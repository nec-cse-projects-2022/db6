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74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5" r:id="rId15"/>
    <p:sldId id="276" r:id="rId16"/>
    <p:sldId id="272" r:id="rId17"/>
    <p:sldId id="273" r:id="rId18"/>
    <p:sldId id="277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xpl/RecentIssue.jsp?punumber=6287639" TargetMode="External"/><Relationship Id="rId2" Type="http://schemas.openxmlformats.org/officeDocument/2006/relationships/hyperlink" Target="https://ieeexplore.ieee.org/xpl/RecentIssue.jsp?punumber=460944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eeexplore.ieee.org/xpl/tocresult.jsp?isnumber=10066212&amp;punumber=5971804" TargetMode="External"/><Relationship Id="rId4" Type="http://schemas.openxmlformats.org/officeDocument/2006/relationships/hyperlink" Target="https://ieeexplore.ieee.org/xpl/RecentIssue.jsp?punumber=5971804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eeexplore.ieee.org/document/1028901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research/clip" TargetMode="External"/><Relationship Id="rId2" Type="http://schemas.openxmlformats.org/officeDocument/2006/relationships/hyperlink" Target="https://github.com/ultralytics/ultralyti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scopus.com/inward/record.url?eid=2-s2.0-85124198074&amp;partnerID=MN8TOARS" TargetMode="External"/><Relationship Id="rId5" Type="http://schemas.openxmlformats.org/officeDocument/2006/relationships/hyperlink" Target="http://www.scopus.com/inward/record.url?eid=2-s2.0-105007441024&amp;partnerID=MN8TOARS" TargetMode="External"/><Relationship Id="rId4" Type="http://schemas.openxmlformats.org/officeDocument/2006/relationships/hyperlink" Target="https://github.com/facebookresearch/faiss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759677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/>
              <a:t>and</a:t>
            </a:r>
            <a:r>
              <a:rPr sz="1800" spc="40" dirty="0"/>
              <a:t> </a:t>
            </a:r>
            <a:r>
              <a:rPr sz="1800" spc="-10" dirty="0"/>
              <a:t>Engineering</a:t>
            </a:r>
            <a:endParaRPr sz="1800" dirty="0"/>
          </a:p>
        </p:txBody>
      </p:sp>
      <p:sp>
        <p:nvSpPr>
          <p:cNvPr id="4" name="object 4"/>
          <p:cNvSpPr txBox="1"/>
          <p:nvPr/>
        </p:nvSpPr>
        <p:spPr>
          <a:xfrm>
            <a:off x="5704840" y="1946592"/>
            <a:ext cx="1503045" cy="50590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lang="en-IN" sz="1550" spc="-2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64634" y="3599878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IN" sz="1550" b="1" dirty="0">
                <a:latin typeface="Times New Roman"/>
                <a:cs typeface="Times New Roman"/>
              </a:rPr>
              <a:t>Y. CHANDANA </a:t>
            </a:r>
            <a:r>
              <a:rPr lang="en-IN" sz="1575" b="1" spc="-15" baseline="-15873" dirty="0">
                <a:latin typeface="Times New Roman"/>
                <a:cs typeface="Times New Roman"/>
              </a:rPr>
              <a:t>B Tech, M Tech</a:t>
            </a:r>
            <a:r>
              <a:rPr sz="1550" b="1" spc="-10" dirty="0">
                <a:latin typeface="Times New Roman"/>
                <a:cs typeface="Times New Roman"/>
              </a:rPr>
              <a:t>,</a:t>
            </a:r>
            <a:r>
              <a:rPr lang="en-IN" sz="1550" b="1" spc="-10" dirty="0">
                <a:latin typeface="Times New Roman"/>
                <a:cs typeface="Times New Roman"/>
              </a:rPr>
              <a:t> 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IN" sz="1600" dirty="0"/>
              <a:t>Assistant Professor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7582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DB6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2E6DE5-587C-B117-9409-336AACCB4F21}"/>
              </a:ext>
            </a:extLst>
          </p:cNvPr>
          <p:cNvSpPr txBox="1"/>
          <p:nvPr/>
        </p:nvSpPr>
        <p:spPr>
          <a:xfrm>
            <a:off x="917575" y="1186864"/>
            <a:ext cx="10588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eaLnBrk="1" fontAlgn="base" hangingPunct="1"/>
            <a:r>
              <a:rPr lang="en-IN" sz="2800" dirty="0">
                <a:solidFill>
                  <a:srgbClr val="FF0000"/>
                </a:solidFill>
              </a:rPr>
              <a:t>A Dual-Function Image System for Multimodal Interface</a:t>
            </a:r>
            <a:endParaRPr lang="en-IN" sz="2800" dirty="0">
              <a:solidFill>
                <a:srgbClr val="FF000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A8C1BB-BAA4-D2C3-0045-7541F40C93B2}"/>
              </a:ext>
            </a:extLst>
          </p:cNvPr>
          <p:cNvSpPr txBox="1"/>
          <p:nvPr/>
        </p:nvSpPr>
        <p:spPr>
          <a:xfrm>
            <a:off x="4429378" y="2515988"/>
            <a:ext cx="4486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Y. KRUPA CHAITANYA 		(22471A05O7)</a:t>
            </a:r>
          </a:p>
          <a:p>
            <a:r>
              <a:rPr lang="en-IN" sz="1200" dirty="0"/>
              <a:t>Sk. A. ABDUL KAREEM		(22471A05N8)</a:t>
            </a:r>
          </a:p>
          <a:p>
            <a:r>
              <a:rPr lang="en-IN" sz="1200" dirty="0"/>
              <a:t>G. L. VARA PRASAD		(23475A0507)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6138B6D-73A2-DED2-3C0C-03F11D0D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>
            <a:extLst>
              <a:ext uri="{FF2B5EF4-FFF2-40B4-BE49-F238E27FC236}">
                <a16:creationId xmlns:a16="http://schemas.microsoft.com/office/drawing/2014/main" id="{6C6F0911-126B-6ED7-4451-1BC79C8922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31344"/>
            <a:ext cx="3648074" cy="50532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1DEA04A4-DD81-E175-683F-5DB65E94C4A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30AF66E-84EC-FFB4-2BFE-922AF398A284}"/>
              </a:ext>
            </a:extLst>
          </p:cNvPr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9B159F2-EE6B-8576-40DD-19628FCDE5E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DB6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31EB93B-3C65-2A53-DCF1-955B77AA7FAE}"/>
              </a:ext>
            </a:extLst>
          </p:cNvPr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AC81CF9-B497-C37F-5C28-EF904D53BE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15" name="object 2"/>
          <p:cNvSpPr txBox="1">
            <a:spLocks noGrp="1"/>
          </p:cNvSpPr>
          <p:nvPr>
            <p:ph type="title"/>
          </p:nvPr>
        </p:nvSpPr>
        <p:spPr>
          <a:xfrm>
            <a:off x="979336" y="384007"/>
            <a:ext cx="10099675" cy="1619673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  <a:br>
              <a:rPr lang="en-IN" spc="-10" dirty="0"/>
            </a:br>
            <a:endParaRPr spc="-1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FE9E84-97F6-FEC9-6E80-BC0ADD56D5CD}"/>
              </a:ext>
            </a:extLst>
          </p:cNvPr>
          <p:cNvSpPr txBox="1"/>
          <p:nvPr/>
        </p:nvSpPr>
        <p:spPr>
          <a:xfrm>
            <a:off x="1157351" y="1600200"/>
            <a:ext cx="10055225" cy="4478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/>
              <a:t>	In a dual-function image system that combines image-to-image semantic retrieval and text-to-image generation into a single framework is presented in this work. Using the WANG dataset and </a:t>
            </a:r>
            <a:r>
              <a:rPr lang="en-US" sz="1600" dirty="0" err="1"/>
              <a:t>ImageCLEF</a:t>
            </a:r>
            <a:r>
              <a:rPr lang="en-US" sz="1600" dirty="0"/>
              <a:t>, the system is made to handle both content-based search tasks and creative generation tasks. For text-to-image generation, we synthesize high-quality 512×512 images from user-provided prompts using the Stable Diffusion v1.5 model. The system uses OpenAI’s CLIP (</a:t>
            </a:r>
            <a:r>
              <a:rPr lang="en-US" sz="1600" dirty="0" err="1"/>
              <a:t>ViT</a:t>
            </a:r>
            <a:r>
              <a:rPr lang="en-US" sz="1600" dirty="0"/>
              <a:t>-B/32) to extract high-dimensional semantic embeddings and YOLOv8 for object detection in image retrieval. FAISS is used to index these embeddings for a quick and effective similarity search. With high precision and recall across several categories, the system is evaluated using standard classification metrics and achieves a Top-1 accuracy of 90.38% and a macro-average ROC AUC of 0.9267. Strong multi-modal interaction is made possible by this dual functionality, which supports a variety of applications in design, surveillance, and content discovery by enabling users to produce original visual content and retrieve semantically related images based on visual features.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79035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11</a:t>
            </a:r>
            <a:r>
              <a:rPr spc="-10" dirty="0"/>
              <a:t>-12-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DB6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82E80-CF24-5862-DE2F-BED2D755FF1E}"/>
              </a:ext>
            </a:extLst>
          </p:cNvPr>
          <p:cNvSpPr txBox="1"/>
          <p:nvPr/>
        </p:nvSpPr>
        <p:spPr>
          <a:xfrm>
            <a:off x="1447800" y="2057400"/>
            <a:ext cx="96568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presents a dual-function image system that combines two key capabilities into a single framework.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1: Semantic Image Retrieval: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retrieve semantically related images based on visual features. This addresses content-based search tasks.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2: Text-to-Image Generation: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users to produce original visual content by synthesizing high-quality 512x512 images from user-provided text prompts.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dual functionality supports strong multi-modal interaction for diverse applications in design, surveillance, and content discovery.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2400" y="100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-12-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7D32A6C4-BB82-3805-BEF5-3AAD695D1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291573"/>
              </p:ext>
            </p:extLst>
          </p:nvPr>
        </p:nvGraphicFramePr>
        <p:xfrm>
          <a:off x="347146" y="752588"/>
          <a:ext cx="11353799" cy="5717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6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8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71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3413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3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3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3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3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3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3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3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3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3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65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50" spc="-50" dirty="0">
                          <a:latin typeface="Calibri"/>
                          <a:cs typeface="Calibri"/>
                        </a:rPr>
                        <a:t>1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Improving the Efficiency of Semantic Image Retrieval Using a Combined Graph and SOM Model</a:t>
                      </a:r>
                      <a:endParaRPr lang="en-IN" sz="1400" dirty="0"/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Nguyen Minh Hai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lang="en-IN" sz="1400" dirty="0"/>
                        <a:t>November 2023 &amp; IEEE</a:t>
                      </a:r>
                      <a:endParaRPr sz="1350" dirty="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Feature Extraction, Hierarchical Clustering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GP-Tree, Graph-</a:t>
                      </a:r>
                      <a:r>
                        <a:rPr lang="en-IN" sz="1400" dirty="0" err="1"/>
                        <a:t>GPTree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 classification accuracy and retrieval performance for WANG  </a:t>
                      </a:r>
                      <a:r>
                        <a:rPr lang="en-US" sz="1400" dirty="0" err="1"/>
                        <a:t>ImageCLEF</a:t>
                      </a:r>
                      <a:r>
                        <a:rPr lang="en-US" sz="1400" dirty="0"/>
                        <a:t> datasets.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687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50" spc="-50" dirty="0">
                          <a:latin typeface="Calibri"/>
                          <a:cs typeface="Calibri"/>
                        </a:rPr>
                        <a:t>2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Text-Image Matching for Cross-Modal Remote Sensing Image Retrieval via Graph Neural Network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Yunyan</a:t>
                      </a:r>
                      <a:r>
                        <a:rPr lang="en-IN" sz="1400" dirty="0"/>
                        <a:t> Xing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IEEE Journal of Selected Topics in Applied Earth Observations and Remote Sensing</a:t>
                      </a:r>
                      <a:r>
                        <a:rPr lang="en-US" sz="135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 Volume: 13)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dirty="0"/>
                        <a:t>Retrieval of topics from </a:t>
                      </a:r>
                      <a:r>
                        <a:rPr lang="en-US" sz="1350" dirty="0" err="1"/>
                        <a:t>image+text</a:t>
                      </a:r>
                      <a:r>
                        <a:rPr lang="en-US" sz="1350" dirty="0"/>
                        <a:t> 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Nearest Neighbor Search (brute force) for image retrieval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Improved both accuracy and interpretability, critical for clinical acceptance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8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50" spc="-50" dirty="0">
                          <a:latin typeface="Calibri"/>
                          <a:cs typeface="Calibri"/>
                        </a:rPr>
                        <a:t>3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Deep Semantic Feature Reduction for Efficient Remote Sensing Image Retrieval</a:t>
                      </a:r>
                      <a:endParaRPr sz="135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Saeed Iqbal</a:t>
                      </a:r>
                      <a:endParaRPr sz="135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IEEE Access</a:t>
                      </a:r>
                      <a:r>
                        <a:rPr lang="en-IN" sz="135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 Volume: 9)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Image Resizing, Feature Extraction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 err="1"/>
                        <a:t>Haralick</a:t>
                      </a:r>
                      <a:r>
                        <a:rPr lang="en-IN" sz="1400" dirty="0"/>
                        <a:t> Features (GLCM-based)</a:t>
                      </a:r>
                      <a:endParaRPr sz="135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Achieved higher retrieval performance compared to only CNN-based models.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97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350" spc="-50" dirty="0">
                          <a:latin typeface="Calibri"/>
                          <a:cs typeface="Calibri"/>
                        </a:rPr>
                        <a:t>4</a:t>
                      </a:r>
                      <a:endParaRPr sz="1350" dirty="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50" dirty="0"/>
                        <a:t>VAA: Visual Aligning Attention Model for Remote Sensing Image Captioning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Rajesh </a:t>
                      </a:r>
                      <a:r>
                        <a:rPr lang="en-IN" sz="1400"/>
                        <a:t>Yelchuri,</a:t>
                      </a:r>
                      <a:r>
                        <a:rPr lang="en-IN" sz="1350"/>
                        <a:t>Yan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IEEE Access</a:t>
                      </a:r>
                      <a:r>
                        <a:rPr lang="en-IN" sz="135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 Volume: 7)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50" dirty="0"/>
                        <a:t>Attention model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Modified ResNet50 (MRSI) CNN, Transfer Learning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dirty="0"/>
                        <a:t>May ignore small/complex objects 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282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350" spc="-50" dirty="0">
                          <a:latin typeface="Calibri"/>
                          <a:cs typeface="Calibri"/>
                        </a:rPr>
                        <a:t>5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dirty="0"/>
                        <a:t>VLCA: vision language aligning model for </a:t>
                      </a:r>
                      <a:r>
                        <a:rPr lang="en-US" sz="1350" dirty="0" err="1"/>
                        <a:t>bilingualremote</a:t>
                      </a:r>
                      <a:r>
                        <a:rPr lang="en-US" sz="1350" dirty="0"/>
                        <a:t> sensing image captioning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50" dirty="0"/>
                        <a:t>Tingting Wei, Weilin Yuan, </a:t>
                      </a:r>
                      <a:r>
                        <a:rPr lang="en-IN" sz="1350" dirty="0" err="1"/>
                        <a:t>Junren</a:t>
                      </a:r>
                      <a:r>
                        <a:rPr lang="en-IN" sz="1350" dirty="0"/>
                        <a:t> Luo, </a:t>
                      </a:r>
                      <a:r>
                        <a:rPr lang="en-IN" sz="1350" dirty="0" err="1"/>
                        <a:t>Wanpeng</a:t>
                      </a:r>
                      <a:r>
                        <a:rPr lang="en-IN" sz="1350" dirty="0"/>
                        <a:t> Zhang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3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Journal of Systems Engineering and Electronics</a:t>
                      </a:r>
                      <a:r>
                        <a:rPr lang="en-US" sz="135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 Volume: 34, </a:t>
                      </a:r>
                      <a:r>
                        <a:rPr lang="en-US" sz="13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Issue: 1</a:t>
                      </a:r>
                      <a:r>
                        <a:rPr lang="en-US" sz="135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February 2023)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400" dirty="0"/>
                        <a:t>Image Resizing, Text Processing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dirty="0"/>
                        <a:t>CMMFN-Net (Cross-modal Feature Matching Network)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350" dirty="0"/>
                        <a:t>Limited language pairs/domain adaptation</a:t>
                      </a:r>
                      <a:endParaRPr sz="13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554" y="591924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88210">
              <a:lnSpc>
                <a:spcPct val="100000"/>
              </a:lnSpc>
              <a:spcBef>
                <a:spcPts val="130"/>
              </a:spcBef>
            </a:pPr>
            <a:r>
              <a:rPr spc="-35" dirty="0"/>
              <a:t>LITERATURE</a:t>
            </a:r>
            <a:r>
              <a:rPr spc="-204" dirty="0"/>
              <a:t> </a:t>
            </a:r>
            <a:r>
              <a:rPr spc="-10" dirty="0"/>
              <a:t>SURVEY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-12-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DB6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286192" y="1828800"/>
            <a:ext cx="9367060" cy="3833742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Nguyen Minh Hai et al. [2]: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a hybrid image retrieval model using GP-Tree, Graph-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GPTree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SOM to enhance semantic organization and retrieval precision, though scalability was limited by computational demands.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Yunyan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Xing et al. [18]: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a deep learning approach for medical image retrieval, demonstrating that deep semantic features improve retrieval accuracy in domain-specific datasets.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Saeed Iqbal [19]: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a fusion-based framework combining handcrafted texture features (GLCM-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Haralick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with CNN-based semantic features for more robust image retrieval.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Rajesh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Yelchuri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[20]: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a deep semantic feature reduction model using Modified ResNet50 (MR50) to improve retrieval efficiency while reducing memory usage.</a:t>
            </a:r>
          </a:p>
          <a:p>
            <a:pPr marL="298450" indent="-285750">
              <a:lnSpc>
                <a:spcPct val="100000"/>
              </a:lnSpc>
              <a:spcBef>
                <a:spcPts val="775"/>
              </a:spcBef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Rombach et al. (Stable Diffusion, 2022):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Presented a latent diffusion model capable of generating high-quality images from text prompts, forming the foundation for the text-to-image component of this project.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-170" dirty="0"/>
              <a:t> </a:t>
            </a:r>
            <a:r>
              <a:rPr spc="-5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-12-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DB6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73187" y="2265861"/>
            <a:ext cx="9445625" cy="324960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Content-Based Image Retrieval (CBIR) methods focus on low-level visual features.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methods often fail to capture the high-level semantics or contextual understanding of an image.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discrepancy between machine-extracted characteristics and human interpretation is known as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"semantic gap"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5863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-12-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DB6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22491" y="1930097"/>
            <a:ext cx="9979025" cy="327634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are often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the SOM component must be retrained for new data, reducing real-time applicability.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these challenges, this work proposes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Function Image System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within a single unified framework.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eliminating the reliance on static ontologies.</a:t>
            </a:r>
          </a:p>
          <a:p>
            <a:pPr marL="342900" indent="-34290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leverages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zero-shot CLIP embeddings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automatic label extraction to ensure both semantic depth and scalability.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3953" y="238197"/>
            <a:ext cx="10101072" cy="1200005"/>
          </a:xfrm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-12-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DB6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10" name="Picture 9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A6E869A5-4F6A-7857-F4E7-D3B42D699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63" y="2362200"/>
            <a:ext cx="4358680" cy="3505200"/>
          </a:xfrm>
          <a:prstGeom prst="rect">
            <a:avLst/>
          </a:prstGeom>
        </p:spPr>
      </p:pic>
      <p:pic>
        <p:nvPicPr>
          <p:cNvPr id="14" name="Picture 13" descr="A diagram of a crop object&#10;&#10;AI-generated content may be incorrect.">
            <a:extLst>
              <a:ext uri="{FF2B5EF4-FFF2-40B4-BE49-F238E27FC236}">
                <a16:creationId xmlns:a16="http://schemas.microsoft.com/office/drawing/2014/main" id="{9B258D4D-2E97-265B-EC03-AF55084A4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954" y="2443162"/>
            <a:ext cx="2724150" cy="33432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B958AAB-9A71-B3EE-B5AE-6EE37694CB18}"/>
              </a:ext>
            </a:extLst>
          </p:cNvPr>
          <p:cNvSpPr txBox="1"/>
          <p:nvPr/>
        </p:nvSpPr>
        <p:spPr>
          <a:xfrm>
            <a:off x="1286192" y="1676400"/>
            <a:ext cx="343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TEXT TO IMAGE 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7545CD-D790-D135-84DA-23DC84D8D7EF}"/>
              </a:ext>
            </a:extLst>
          </p:cNvPr>
          <p:cNvSpPr txBox="1"/>
          <p:nvPr/>
        </p:nvSpPr>
        <p:spPr>
          <a:xfrm>
            <a:off x="7765954" y="1676400"/>
            <a:ext cx="2902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IMAGE TO IMAGE 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55418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-12-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DB6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828800" y="1981200"/>
            <a:ext cx="7845425" cy="333424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 uploads an image.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is preprocessed (normalized, resized to 512x512).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and crops semantic objects from the image.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CLIP (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-B/32)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high-dimensional semantic features from the cropped objects.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indexes these features and conducts a high-speed similarity search to find the top-k matching images.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returns the semantically similar images.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-12-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813305"/>
            <a:ext cx="9834245" cy="40077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Environment: Implemented using Python 3.10 with libraries such as OpenCV, Matplotlib, and Scikit-learn for image handling, visualization, and analysis.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Platforms: Project executed on both a local system and Google Colab to leverage GPU acceleration for faster processing.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Setup: Used Intel Core i5-12450H (12th Gen) CPU, 8 GB RAM, and NVIDIA Tesla T4 GPU (16 GB VRAM) accessed via Google Colab.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The implementation was carried out on Windows 11 (64-bit, x64 architecture) environment.</a:t>
            </a:r>
          </a:p>
          <a:p>
            <a:pPr marL="241300" marR="5080" indent="-229235">
              <a:lnSpc>
                <a:spcPct val="15000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11-12-</a:t>
            </a:r>
            <a:r>
              <a:rPr lang="en-IN" spc="-20" dirty="0"/>
              <a:t>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35353" y="1676400"/>
            <a:ext cx="9445626" cy="87972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>
              <a:lnSpc>
                <a:spcPct val="150000"/>
              </a:lnSpc>
              <a:buClrTx/>
              <a:buFontTx/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robust performance and real-time capability across both structured (WANG) and unstructured (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ImageCLEF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domains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B28D4-F927-004C-A487-05EDF47E3889}"/>
              </a:ext>
            </a:extLst>
          </p:cNvPr>
          <p:cNvSpPr txBox="1"/>
          <p:nvPr/>
        </p:nvSpPr>
        <p:spPr>
          <a:xfrm>
            <a:off x="1271181" y="3173359"/>
            <a:ext cx="5271763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b="1" dirty="0"/>
              <a:t>WANG Dataset Performance :</a:t>
            </a:r>
          </a:p>
          <a:p>
            <a:pPr>
              <a:defRPr/>
            </a:pPr>
            <a:r>
              <a:rPr lang="en-I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dirty="0"/>
              <a:t>Top-1 Classification Accuracy: 87.25%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dirty="0"/>
              <a:t>Top-5 Retrieval Accuracy: 94.38%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dirty="0"/>
              <a:t>Macro F1-Score: 91.45%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fr-FR" dirty="0" err="1"/>
              <a:t>Average</a:t>
            </a:r>
            <a:r>
              <a:rPr lang="fr-FR" dirty="0"/>
              <a:t> </a:t>
            </a:r>
            <a:r>
              <a:rPr lang="fr-FR" dirty="0" err="1"/>
              <a:t>Query</a:t>
            </a:r>
            <a:r>
              <a:rPr lang="fr-FR" dirty="0"/>
              <a:t> Duration: </a:t>
            </a:r>
            <a:r>
              <a:rPr lang="fr-FR" b="1" dirty="0"/>
              <a:t>0.09 sec (9ms)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BE648-DFF4-15E9-BC50-96236A269277}"/>
              </a:ext>
            </a:extLst>
          </p:cNvPr>
          <p:cNvSpPr txBox="1"/>
          <p:nvPr/>
        </p:nvSpPr>
        <p:spPr>
          <a:xfrm>
            <a:off x="6400800" y="3173359"/>
            <a:ext cx="4596219" cy="2672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 err="1"/>
              <a:t>ImageCLEF</a:t>
            </a:r>
            <a:r>
              <a:rPr lang="en-US" b="1" dirty="0"/>
              <a:t> Dataset Performance :</a:t>
            </a:r>
          </a:p>
          <a:p>
            <a:pPr>
              <a:defRPr/>
            </a:pPr>
            <a:endParaRPr lang="en-US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dirty="0"/>
              <a:t>Top-1 Classification Accuracy: 90.38%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dirty="0"/>
              <a:t>Top-5 Retrieval Accuracy: 91.62%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dirty="0"/>
              <a:t>Macro F1-Score: 91.45%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dirty="0"/>
              <a:t>Average Search Latency: </a:t>
            </a:r>
            <a:r>
              <a:rPr lang="en-US" b="1" dirty="0"/>
              <a:t>0.12 sec (12ms)</a:t>
            </a:r>
            <a:endParaRPr lang="en-IN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666296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30"/>
              </a:spcBef>
            </a:pPr>
            <a:r>
              <a:rPr dirty="0"/>
              <a:t>CONCLUSION</a:t>
            </a:r>
            <a:r>
              <a:rPr spc="-14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FUTURE</a:t>
            </a:r>
            <a:r>
              <a:rPr spc="-12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11-12-</a:t>
            </a:r>
            <a:r>
              <a:rPr lang="en-IN" spc="-20" dirty="0"/>
              <a:t>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021204" y="2057400"/>
            <a:ext cx="8149590" cy="353430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/>
              <a:t>We successfully developed a unified, dual-function system for semantic retrieval (YOLOv8, CLIP, FAISS) and text-to-image generation (Stable Diffusion v1.5).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/>
              <a:t>The system is robust, scalable, and achieves high performance, with a 94.38% Top-5 accuracy on the WANG dataset and query times under 0.1 seconds.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/>
              <a:t>Expand functionality to support </a:t>
            </a:r>
            <a:r>
              <a:rPr lang="en-US" altLang="en-US" sz="1800" b="1" dirty="0"/>
              <a:t>text-to-image retrieval</a:t>
            </a:r>
            <a:r>
              <a:rPr lang="en-US" altLang="en-US" sz="1800" dirty="0"/>
              <a:t> (using a text query to find existing images) via CLIP's textual embeddings.</a:t>
            </a:r>
          </a:p>
          <a:p>
            <a:pPr marL="285750" indent="-285750">
              <a:lnSpc>
                <a:spcPct val="150000"/>
              </a:lnSpc>
              <a:buClrTx/>
              <a:buFont typeface="Arial" panose="020B0604020202020204" pitchFamily="34" charset="0"/>
              <a:buChar char="•"/>
            </a:pPr>
            <a:r>
              <a:rPr lang="en-US" altLang="en-US" sz="1800" dirty="0"/>
              <a:t>Integrate real-time </a:t>
            </a:r>
            <a:r>
              <a:rPr lang="en-US" altLang="en-US" sz="1800" b="1" dirty="0"/>
              <a:t>user feedback</a:t>
            </a:r>
            <a:r>
              <a:rPr lang="en-US" altLang="en-US" sz="1800" dirty="0"/>
              <a:t> mechanisms to refine retrieval relevance.</a:t>
            </a:r>
            <a:endParaRPr lang="en-IN" altLang="en-US" sz="1800" dirty="0"/>
          </a:p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endParaRPr spc="-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11-12-</a:t>
            </a:r>
            <a:r>
              <a:rPr lang="en-IN" spc="-20" dirty="0"/>
              <a:t>2025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045463" y="1676400"/>
            <a:ext cx="10360025" cy="40350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[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 G. Pass and R. Zabih, “Comparing images using joint histograms,”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 Systems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3, pp. 234–240, 1999.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N. M. Hai et al., “Improving the efficiency of semantic image retrieval using a combined graph and SOM model,”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pp. 140647–140650, 2023.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https://ieeexplore.ieee.org/document/10289012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Jabeen, Z. Mehmood, T. Mahmood, T. Saba, A. Rehman, and M. T. Mahmood, “An effective content-based image retrieval technique for image visuals representation based on the bag-of-visual-words model,”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4, 2018.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X.-Y. Wang, Y.-W. Li, and H.-Y. Yang, “An image retrieval scheme with relevance feedback using feature reconstruction and SVM reclassification,”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Neurocomputing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127, pp. 214–230, 2014.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Y. LeCun, L.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Bottou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Bengio, and P. Haffner, “Gradient-based learning applied to document recognition,”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IEEE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86, no. 11, pp. 2278–2324, 1998.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158B-403F-B457-E4EA-02750B9D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F596C82-37D7-35B8-D98F-B7B73D7E0F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5DA61EC-CAE7-A4FF-8B0B-532985DE2C5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11-12-</a:t>
            </a:r>
            <a:r>
              <a:rPr lang="en-IN" spc="-20" dirty="0"/>
              <a:t>2025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BF17FB1-43CC-85B7-13C1-4464904C801D}"/>
              </a:ext>
            </a:extLst>
          </p:cNvPr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B5B30E6-3923-5DB6-F16F-F6B79F054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B4347B5-2AEF-6B81-46DF-A98FB8C9DE1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A2DDA49-0503-F96E-AB49-184569A4388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1373999-F6DC-CB02-2A59-2022C5D5AACA}"/>
              </a:ext>
            </a:extLst>
          </p:cNvPr>
          <p:cNvSpPr txBox="1"/>
          <p:nvPr/>
        </p:nvSpPr>
        <p:spPr>
          <a:xfrm>
            <a:off x="1045463" y="1676400"/>
            <a:ext cx="10360025" cy="36657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X. Wang, Z. Huang, and F. van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Harmelen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“Ontology-based semantic similarity approach for biomedical dataset retrieval,”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Information Science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C. S. Wickramasinghe, K. Amarasinghe, and M. Manic, “Parallelizable deep self-organizing maps for image classification,” in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Symposium Series on Computational Intelligence (SSCI)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2017, pp. 1–7.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J. Z. Wang, J. Li, and G. Wiederhold, “Simplicity: Semantics-sensitive integrated matching for picture libraries,”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9, pp. 947–963, 2001.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B. Ionescu, H. Müller, M. Villegas et al., “Overview of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ImageCLEF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2018: Challenges, datasets and evaluation,” in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International Conference of the Cross-Language Evaluation Forum for European Languages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2018, pp. 309–334.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T. Berners-Lee, J. Hendler, and O. Lassila, “The semantic web,”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American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284, no. 5, pp. 34–43, 2001.</a:t>
            </a:r>
          </a:p>
        </p:txBody>
      </p:sp>
    </p:spTree>
    <p:extLst>
      <p:ext uri="{BB962C8B-B14F-4D97-AF65-F5344CB8AC3E}">
        <p14:creationId xmlns:p14="http://schemas.microsoft.com/office/powerpoint/2010/main" val="2516961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C1F7F-5B9F-0185-9E08-37343E561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23C2E0-AC08-6F6E-727B-0DB303A9C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F3653EA-13C8-4A51-6447-3382B1F3E09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11-12-</a:t>
            </a:r>
            <a:r>
              <a:rPr lang="en-IN" spc="-20" dirty="0"/>
              <a:t>2025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6463804-EE9D-9B5D-3D83-9FC7C6B0D69A}"/>
              </a:ext>
            </a:extLst>
          </p:cNvPr>
          <p:cNvSpPr txBox="1"/>
          <p:nvPr/>
        </p:nvSpPr>
        <p:spPr>
          <a:xfrm>
            <a:off x="442937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0C35F68F-1D99-7586-D78E-D75B245CCFB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808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A2790F0-0C3A-3677-091F-1983CA6BD23D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01023F4-A3B4-FCA8-844E-DC220353B80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046612B-AD92-2D56-AFD2-200D7739FF85}"/>
              </a:ext>
            </a:extLst>
          </p:cNvPr>
          <p:cNvSpPr txBox="1"/>
          <p:nvPr/>
        </p:nvSpPr>
        <p:spPr>
          <a:xfrm>
            <a:off x="1219453" y="1371600"/>
            <a:ext cx="10101073" cy="481849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11] G.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Jocher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Chaurasia et al., “YOLOv8: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official implementation,” 2023.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https://github.com/ultralytics/ultralytics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A. Radford, J. W. Kim, J. Hallacy et al., “Learning transferable visual models from natural language supervision,” in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38th International Conference on Machine Learning (ICML)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https://openai.com/research/clip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J. Johnson, M.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Douze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H. Jégou, “Billion-scale similarity search with GPUs,” </a:t>
            </a: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arXiv:1702.08734, 2019.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https://github.com/facebookresearch/faiss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K. V. N. Reddy, Y. Narendra, M. A. N. Reddy, A. Ramu, D. V. Reddy, and S. Moturi, “CNN deep learning,”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Innovation (IATMSI)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2025.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http://www.scopus.com/inward/record.url?eid=2-s2.0-105007441024&amp;partnerID=MN8TOARS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S. L.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Jagannadham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Lakshmi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Nadh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Sireesha, “Brain tumour detection using CNN,” in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5th International Conference on I-SMAC (IoT in Social, Mobile, Analytics and Cloud)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2021. [Online]. Available: </a:t>
            </a: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http://www.scopus.com/inward/record.url?eid=2-s2.0-85124198074&amp;partnerID=MN8TOARS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594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874" y="6096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11-12-</a:t>
            </a:r>
            <a:r>
              <a:rPr lang="en-IN" spc="-20" dirty="0"/>
              <a:t>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9046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905000" y="2057400"/>
            <a:ext cx="9199626" cy="290105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Q1: What are the datasets used?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I used two datasets — WANG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ImageCLEF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Q2: Do you use both datasets together?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No, I used the datasets separately for training and evaluation.</a:t>
            </a:r>
          </a:p>
          <a:p>
            <a:pPr marL="355600" indent="-342900">
              <a:lnSpc>
                <a:spcPct val="150000"/>
              </a:lnSpc>
              <a:spcBef>
                <a:spcPts val="130"/>
              </a:spcBef>
              <a:buFont typeface="+mj-lt"/>
              <a:buAutoNum type="arabicPeriod"/>
              <a:tabLst>
                <a:tab pos="241300" algn="l"/>
              </a:tabLs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Q3: What is the main objective of this project?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The main objective is to develop a dual-function image system that can perform both image-to-image semantic retrieval and text-to-image generation using advanced deep learning models.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pc="-10" dirty="0"/>
              <a:t>11-12-</a:t>
            </a:r>
            <a:r>
              <a:rPr lang="en-IN" spc="-20" dirty="0"/>
              <a:t>2025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82842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No.1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Batch</a:t>
            </a:r>
            <a:r>
              <a:rPr lang="en-IN" spc="-55" dirty="0"/>
              <a:t> </a:t>
            </a:r>
            <a:r>
              <a:rPr lang="en-IN" spc="-25" dirty="0"/>
              <a:t>No. DB6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4" y="1730872"/>
            <a:ext cx="10512425" cy="408573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Grateful to our Chairman, Sri M. V.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Koteswara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Rao, B.Sc.,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continuous support and encouragement throughout the course.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Thankful to our Principal, Dr. S.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Venkateswarlu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Ph.D.,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his valuable guidance and motivation.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Sincere thanks to Dr. S. N. Tirumala Rao,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Ph.D., HOD of CSE,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Guide, Y. Chandana,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guidance and constant encouragement.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Appreciation to Syed Rizwana,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(Ph.D.), Assistant Professor &amp; Project Coordinator,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her support and inspiration.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Heartfelt gratitude to our parents, friends, and the CSE department staff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cooperation, motivation, and continuous encouragement.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F0FF59-E604-04AE-94B5-5AB53F009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>
            <a:extLst>
              <a:ext uri="{FF2B5EF4-FFF2-40B4-BE49-F238E27FC236}">
                <a16:creationId xmlns:a16="http://schemas.microsoft.com/office/drawing/2014/main" id="{1162193E-6997-7C14-CD63-E43AC81AC3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81000"/>
            <a:ext cx="3648074" cy="505326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821C2432-84FD-8A0F-4E34-AD4BCFA9794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575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1</a:t>
            </a:r>
            <a:r>
              <a:rPr lang="en-IN" spc="-10" dirty="0"/>
              <a:t>1</a:t>
            </a:r>
            <a:r>
              <a:rPr spc="-10" dirty="0"/>
              <a:t>-1</a:t>
            </a:r>
            <a:r>
              <a:rPr lang="en-IN" spc="-10" dirty="0"/>
              <a:t>1</a:t>
            </a:r>
            <a:r>
              <a:rPr spc="-10" dirty="0"/>
              <a:t>-</a:t>
            </a:r>
            <a:r>
              <a:rPr spc="-20" dirty="0"/>
              <a:t>202</a:t>
            </a:r>
            <a:r>
              <a:rPr lang="en-IN" spc="-20" dirty="0"/>
              <a:t>5</a:t>
            </a:r>
            <a:endParaRPr spc="-20"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6497366-0394-0D10-C7DE-3A78512CD94D}"/>
              </a:ext>
            </a:extLst>
          </p:cNvPr>
          <p:cNvSpPr txBox="1"/>
          <p:nvPr/>
        </p:nvSpPr>
        <p:spPr>
          <a:xfrm>
            <a:off x="4267200" y="6451049"/>
            <a:ext cx="91122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r>
              <a:rPr lang="en-IN"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1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F2A21F1-7F64-B53C-AE77-5A404F3E491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480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IN" spc="-25" dirty="0"/>
              <a:t> DB6</a:t>
            </a:r>
            <a:endParaRPr spc="-2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3232B70-6E61-42F4-DA02-2B13416010D0}"/>
              </a:ext>
            </a:extLst>
          </p:cNvPr>
          <p:cNvSpPr txBox="1"/>
          <p:nvPr/>
        </p:nvSpPr>
        <p:spPr>
          <a:xfrm>
            <a:off x="7005320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0D742A9-825F-ED0D-E3CE-2F451F66B4D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271C07-ADB4-5522-86E0-D56AB5889068}"/>
              </a:ext>
            </a:extLst>
          </p:cNvPr>
          <p:cNvSpPr txBox="1"/>
          <p:nvPr/>
        </p:nvSpPr>
        <p:spPr>
          <a:xfrm>
            <a:off x="2971800" y="1981200"/>
            <a:ext cx="7391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latin typeface="Berlin Sans FB Demi" panose="020E0802020502020306" pitchFamily="34" charset="0"/>
              </a:rPr>
              <a:t>THANK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7E7EF9-D87F-BA8D-EF13-1B4D55950AF4}"/>
              </a:ext>
            </a:extLst>
          </p:cNvPr>
          <p:cNvSpPr txBox="1"/>
          <p:nvPr/>
        </p:nvSpPr>
        <p:spPr>
          <a:xfrm>
            <a:off x="7315200" y="4038600"/>
            <a:ext cx="434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Contact: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chaitu25113@gmamil.com</a:t>
            </a:r>
          </a:p>
        </p:txBody>
      </p:sp>
    </p:spTree>
    <p:extLst>
      <p:ext uri="{BB962C8B-B14F-4D97-AF65-F5344CB8AC3E}">
        <p14:creationId xmlns:p14="http://schemas.microsoft.com/office/powerpoint/2010/main" val="356115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2503</Words>
  <Application>Microsoft Office PowerPoint</Application>
  <PresentationFormat>Widescreen</PresentationFormat>
  <Paragraphs>232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MT</vt:lpstr>
      <vt:lpstr>Berlin Sans FB Demi</vt:lpstr>
      <vt:lpstr>Calibri</vt:lpstr>
      <vt:lpstr>Times New Roman</vt:lpstr>
      <vt:lpstr>Office Theme</vt:lpstr>
      <vt:lpstr>Department of Computer Science and Engineering</vt:lpstr>
      <vt:lpstr>ABSTRACT </vt:lpstr>
      <vt:lpstr>INTRODUCTION</vt:lpstr>
      <vt:lpstr>LITERATURE SURVEY</vt:lpstr>
      <vt:lpstr>LITERATURE SURVEY</vt:lpstr>
      <vt:lpstr>PROBLEM STATEMENT</vt:lpstr>
      <vt:lpstr>OBJECTIVES</vt:lpstr>
      <vt:lpstr>BLOCK DIAGRAM OR FLOW DIAGRAM</vt:lpstr>
      <vt:lpstr>METHODOLOGY</vt:lpstr>
      <vt:lpstr>IMPLEMENTATION</vt:lpstr>
      <vt:lpstr>RESULTS &amp; ANALYSIS</vt:lpstr>
      <vt:lpstr>CONCLUSION and FUTURE SCOPE</vt:lpstr>
      <vt:lpstr>REFERENCES</vt:lpstr>
      <vt:lpstr>REFERENCES</vt:lpstr>
      <vt:lpstr>REFERENCES</vt:lpstr>
      <vt:lpstr>QUESTIONS and ANSWERS</vt:lpstr>
      <vt:lpstr>ACKNOWLEGEMENTS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Chaitanya Y</dc:creator>
  <cp:lastModifiedBy>Chaitanya Y</cp:lastModifiedBy>
  <cp:revision>6</cp:revision>
  <dcterms:created xsi:type="dcterms:W3CDTF">2025-11-08T10:38:02Z</dcterms:created>
  <dcterms:modified xsi:type="dcterms:W3CDTF">2025-12-05T09:22:16Z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2025-11-08T00:00:00Z</vt:filetime>
  </property>
</Properties>
</file>